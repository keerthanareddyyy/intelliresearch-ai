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 name="PlaceHolder 3"/>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4AC82896-534F-40DF-8010-D68560649CDE}"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rot="5400000">
            <a:off x="7133400" y="1956240"/>
            <a:ext cx="5811480" cy="2628720"/>
          </a:xfrm>
          <a:prstGeom prst="rect">
            <a:avLst/>
          </a:prstGeom>
          <a:noFill/>
          <a:ln w="0">
            <a:noFill/>
          </a:ln>
        </p:spPr>
        <p:txBody>
          <a:bodyPr lIns="91440" tIns="45720" rIns="91440" bIns="45720" anchor="ctr">
            <a:norm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a:t>
            </a:r>
            <a:r>
              <a:rPr lang="en-US" sz="4400" b="0" u="none" strike="noStrike">
                <a:solidFill>
                  <a:srgbClr val="000000"/>
                </a:solidFill>
                <a:effectLst/>
                <a:uFillTx/>
                <a:latin typeface="Arial"/>
              </a:rPr>
              <a:t>edit the </a:t>
            </a:r>
            <a:r>
              <a:rPr lang="en-US" sz="4400" b="0" u="none" strike="noStrike">
                <a:solidFill>
                  <a:srgbClr val="000000"/>
                </a:solidFill>
                <a:effectLst/>
                <a:uFillTx/>
                <a:latin typeface="Arial"/>
              </a:rPr>
              <a:t>title </a:t>
            </a:r>
            <a:r>
              <a:rPr lang="en-US" sz="4400" b="0" u="none" strike="noStrike">
                <a:solidFill>
                  <a:srgbClr val="000000"/>
                </a:solidFill>
                <a:effectLst/>
                <a:uFillTx/>
                <a:latin typeface="Arial"/>
              </a:rPr>
              <a:t>text </a:t>
            </a:r>
            <a:r>
              <a:rPr lang="en-US" sz="4400" b="0" u="none" strike="noStrike">
                <a:solidFill>
                  <a:srgbClr val="000000"/>
                </a:solidFill>
                <a:effectLst/>
                <a:uFillTx/>
                <a:latin typeface="Arial"/>
              </a:rPr>
              <a:t>format</a:t>
            </a:r>
            <a:endParaRPr lang="en-US" sz="4400" b="0" u="none" strike="noStrike">
              <a:solidFill>
                <a:srgbClr val="000000"/>
              </a:solidFill>
              <a:effectLst/>
              <a:uFillTx/>
              <a:latin typeface="Arial"/>
            </a:endParaRPr>
          </a:p>
        </p:txBody>
      </p:sp>
      <p:sp>
        <p:nvSpPr>
          <p:cNvPr id="8" name="PlaceHolder 2"/>
          <p:cNvSpPr>
            <a:spLocks noGrp="1"/>
          </p:cNvSpPr>
          <p:nvPr>
            <p:ph type="body"/>
          </p:nvPr>
        </p:nvSpPr>
        <p:spPr>
          <a:xfrm rot="5400000">
            <a:off x="1800000" y="-596160"/>
            <a:ext cx="5811480" cy="773388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3E7A24CF-650E-4480-96CD-E2CDDA77FCD7}"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lstStyle>
            <a:lvl1pPr indent="0" algn="l">
              <a:buNone/>
              <a:defRPr lang="en-US" sz="6000" b="0" u="none" strike="noStrike">
                <a:solidFill>
                  <a:srgbClr val="000000"/>
                </a:solidFill>
                <a:effectLst/>
                <a:uFillTx/>
                <a:latin typeface="Arial"/>
              </a:defRPr>
            </a:lvl1pPr>
          </a:lstStyle>
          <a:p>
            <a:pPr indent="0" algn="l">
              <a:buNone/>
            </a:pPr>
            <a:r>
              <a:rPr lang="en-US" sz="6000" b="0" u="none" strike="noStrike">
                <a:solidFill>
                  <a:srgbClr val="000000"/>
                </a:solidFill>
                <a:effectLst/>
                <a:uFillTx/>
                <a:latin typeface="Arial"/>
              </a:rPr>
              <a:t>Click </a:t>
            </a:r>
            <a:r>
              <a:rPr lang="en-US" sz="6000" b="0" u="none" strike="noStrike">
                <a:solidFill>
                  <a:srgbClr val="000000"/>
                </a:solidFill>
                <a:effectLst/>
                <a:uFillTx/>
                <a:latin typeface="Arial"/>
              </a:rPr>
              <a:t>to </a:t>
            </a:r>
            <a:r>
              <a:rPr lang="en-US" sz="6000" b="0" u="none" strike="noStrike">
                <a:solidFill>
                  <a:srgbClr val="000000"/>
                </a:solidFill>
                <a:effectLst/>
                <a:uFillTx/>
                <a:latin typeface="Arial"/>
              </a:rPr>
              <a:t>edit </a:t>
            </a:r>
            <a:r>
              <a:rPr lang="en-US" sz="6000" b="0" u="none" strike="noStrike">
                <a:solidFill>
                  <a:srgbClr val="000000"/>
                </a:solidFill>
                <a:effectLst/>
                <a:uFillTx/>
                <a:latin typeface="Arial"/>
              </a:rPr>
              <a:t>the </a:t>
            </a:r>
            <a:r>
              <a:rPr lang="en-US" sz="6000" b="0" u="none" strike="noStrike">
                <a:solidFill>
                  <a:srgbClr val="000000"/>
                </a:solidFill>
                <a:effectLst/>
                <a:uFillTx/>
                <a:latin typeface="Arial"/>
              </a:rPr>
              <a:t>title </a:t>
            </a:r>
            <a:r>
              <a:rPr lang="en-US" sz="6000" b="0" u="none" strike="noStrike">
                <a:solidFill>
                  <a:srgbClr val="000000"/>
                </a:solidFill>
                <a:effectLst/>
                <a:uFillTx/>
                <a:latin typeface="Arial"/>
              </a:rPr>
              <a:t>text </a:t>
            </a:r>
            <a:r>
              <a:rPr lang="en-US" sz="6000" b="0" u="none" strike="noStrike">
                <a:solidFill>
                  <a:srgbClr val="000000"/>
                </a:solidFill>
                <a:effectLst/>
                <a:uFillTx/>
                <a:latin typeface="Arial"/>
              </a:rPr>
              <a:t>form</a:t>
            </a:r>
            <a:r>
              <a:rPr lang="en-US" sz="6000" b="0" u="none" strike="noStrike">
                <a:solidFill>
                  <a:srgbClr val="000000"/>
                </a:solidFill>
                <a:effectLst/>
                <a:uFillTx/>
                <a:latin typeface="Arial"/>
              </a:rPr>
              <a:t>at</a:t>
            </a:r>
            <a:endParaRPr lang="en-US" sz="6000" b="0" u="none" strike="noStrike">
              <a:solidFill>
                <a:srgbClr val="000000"/>
              </a:solidFill>
              <a:effectLst/>
              <a:uFillTx/>
              <a:latin typeface="Arial"/>
            </a:endParaRPr>
          </a:p>
        </p:txBody>
      </p:sp>
      <p:sp>
        <p:nvSpPr>
          <p:cNvPr id="1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rmAutofit fontScale="47500" lnSpcReduction="19999"/>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1F69451C-72EF-4085-9ACB-31DB99744AF9}"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rmAutofit fontScale="85000" lnSpcReduction="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rmAutofit fontScale="85000" lnSpcReduction="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0" name="PlaceHolder 4"/>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1" name="PlaceHolder 5"/>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3C3BC00-B100-4B5A-A946-956CFC04208B}"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rm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a:t>
            </a:r>
            <a:r>
              <a:rPr lang="en-US" sz="4400" b="0" u="none" strike="noStrike">
                <a:solidFill>
                  <a:srgbClr val="000000"/>
                </a:solidFill>
                <a:effectLst/>
                <a:uFillTx/>
                <a:latin typeface="Arial"/>
              </a:rPr>
              <a:t>edit the </a:t>
            </a:r>
            <a:r>
              <a:rPr lang="en-US" sz="4400" b="0" u="none" strike="noStrike">
                <a:solidFill>
                  <a:srgbClr val="000000"/>
                </a:solidFill>
                <a:effectLst/>
                <a:uFillTx/>
                <a:latin typeface="Arial"/>
              </a:rPr>
              <a:t>title </a:t>
            </a:r>
            <a:r>
              <a:rPr lang="en-US" sz="4400" b="0" u="none" strike="noStrike">
                <a:solidFill>
                  <a:srgbClr val="000000"/>
                </a:solidFill>
                <a:effectLst/>
                <a:uFillTx/>
                <a:latin typeface="Arial"/>
              </a:rPr>
              <a:t>text </a:t>
            </a:r>
            <a:r>
              <a:rPr lang="en-US" sz="4400" b="0" u="none" strike="noStrike">
                <a:solidFill>
                  <a:srgbClr val="000000"/>
                </a:solidFill>
                <a:effectLst/>
                <a:uFillTx/>
                <a:latin typeface="Arial"/>
              </a:rPr>
              <a:t>format</a:t>
            </a:r>
            <a:endParaRPr lang="en-US" sz="4400" b="0" u="none" strike="noStrike">
              <a:solidFill>
                <a:srgbClr val="000000"/>
              </a:solidFill>
              <a:effectLst/>
              <a:uFillTx/>
              <a:latin typeface="Arial"/>
            </a:endParaRPr>
          </a:p>
        </p:txBody>
      </p:sp>
      <p:sp>
        <p:nvSpPr>
          <p:cNvPr id="2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2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2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8" name="PlaceHolder 6"/>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9" name="PlaceHolder 7"/>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 name="PlaceHolder 8"/>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D304A51A-984E-4C9E-9C0D-A648E659882B}"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a:t>
            </a:r>
            <a:r>
              <a:rPr lang="en-US" sz="4400" b="0" u="none" strike="noStrike">
                <a:solidFill>
                  <a:srgbClr val="000000"/>
                </a:solidFill>
                <a:effectLst/>
                <a:uFillTx/>
                <a:latin typeface="Arial"/>
              </a:rPr>
              <a:t>edit the </a:t>
            </a:r>
            <a:r>
              <a:rPr lang="en-US" sz="4400" b="0" u="none" strike="noStrike">
                <a:solidFill>
                  <a:srgbClr val="000000"/>
                </a:solidFill>
                <a:effectLst/>
                <a:uFillTx/>
                <a:latin typeface="Arial"/>
              </a:rPr>
              <a:t>title </a:t>
            </a:r>
            <a:r>
              <a:rPr lang="en-US" sz="4400" b="0" u="none" strike="noStrike">
                <a:solidFill>
                  <a:srgbClr val="000000"/>
                </a:solidFill>
                <a:effectLst/>
                <a:uFillTx/>
                <a:latin typeface="Arial"/>
              </a:rPr>
              <a:t>text </a:t>
            </a:r>
            <a:r>
              <a:rPr lang="en-US" sz="4400" b="0" u="none" strike="noStrike">
                <a:solidFill>
                  <a:srgbClr val="000000"/>
                </a:solidFill>
                <a:effectLst/>
                <a:uFillTx/>
                <a:latin typeface="Arial"/>
              </a:rPr>
              <a:t>format</a:t>
            </a:r>
            <a:endParaRPr lang="en-US" sz="4400" b="0" u="none" strike="noStrike">
              <a:solidFill>
                <a:srgbClr val="000000"/>
              </a:solidFill>
              <a:effectLst/>
              <a:uFillTx/>
              <a:latin typeface="Arial"/>
            </a:endParaRPr>
          </a:p>
        </p:txBody>
      </p:sp>
      <p:sp>
        <p:nvSpPr>
          <p:cNvPr id="32" name="PlaceHolder 2"/>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3" name="PlaceHolder 3"/>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 name="PlaceHolder 4"/>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7E8A5BD5-572F-4238-9466-2257F36D208E}"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6" name="PlaceHolder 2"/>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7" name="PlaceHolder 3"/>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189A264C-18B4-4C5E-B28A-A38B825470BC}"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n-US" sz="3200" b="0" u="none" strike="noStrike">
                <a:solidFill>
                  <a:srgbClr val="000000"/>
                </a:solidFill>
                <a:effectLst/>
                <a:uFillTx/>
                <a:latin typeface="Arial"/>
              </a:defRPr>
            </a:lvl1pPr>
          </a:lstStyle>
          <a:p>
            <a:pPr indent="0" algn="l">
              <a:buNone/>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3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3200" b="0" u="none" strike="noStrike">
                <a:solidFill>
                  <a:srgbClr val="000000"/>
                </a:solidFill>
                <a:effectLst/>
                <a:uFillTx/>
                <a:latin typeface="Arial"/>
              </a:defRPr>
            </a:lvl7pPr>
          </a:lstStyle>
          <a:p>
            <a:pPr marL="457200" indent="-43164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914400" lvl="1" indent="-406440" algn="l">
              <a:spcBef>
                <a:spcPts val="1134"/>
              </a:spcBef>
              <a:buClr>
                <a:srgbClr val="000000"/>
              </a:buClr>
              <a:buSzPct val="75000"/>
              <a:buFont typeface="Symbol" charset="2"/>
              <a:buChar char=""/>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371600" lvl="2" indent="-380880" algn="l">
              <a:spcBef>
                <a:spcPts val="850"/>
              </a:spcBef>
              <a:buClr>
                <a:srgbClr val="000000"/>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828800" lvl="3" indent="-355680" algn="l">
              <a:spcBef>
                <a:spcPts val="567"/>
              </a:spcBef>
              <a:buClr>
                <a:srgbClr val="000000"/>
              </a:buClr>
              <a:buSzPct val="75000"/>
              <a:buFont typeface="Symbol" charset="2"/>
              <a:buChar char=""/>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286000" lvl="4" indent="-35568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743200" lvl="5" indent="-35568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3200400" lvl="6" indent="-35568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4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41" name="PlaceHolder 4"/>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2" name="PlaceHolder 5"/>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6"/>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A3F7CF1D-7D17-4C01-87A8-8F1F1B4927AE}"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lvl1pPr indent="0" algn="l">
              <a:buNone/>
              <a:defRPr lang="en-US" sz="3200" b="0" u="none" strike="noStrike">
                <a:solidFill>
                  <a:srgbClr val="000000"/>
                </a:solidFill>
                <a:effectLst/>
                <a:uFillTx/>
                <a:latin typeface="Arial"/>
              </a:defRPr>
            </a:lvl1pPr>
          </a:lstStyle>
          <a:p>
            <a:pPr indent="0" algn="l">
              <a:buNone/>
            </a:pPr>
            <a:r>
              <a:rPr lang="en-US" sz="3200" b="0" u="none" strike="noStrike">
                <a:solidFill>
                  <a:srgbClr val="000000"/>
                </a:solidFill>
                <a:effectLst/>
                <a:uFillTx/>
                <a:latin typeface="Arial"/>
              </a:rPr>
              <a:t>Click to edit the title text format</a:t>
            </a:r>
            <a:endParaRPr lang="en-US" sz="3200" b="0" u="none" strike="noStrike">
              <a:solidFill>
                <a:srgbClr val="000000"/>
              </a:solidFill>
              <a:effectLst/>
              <a:uFillTx/>
              <a:latin typeface="Arial"/>
            </a:endParaRPr>
          </a:p>
        </p:txBody>
      </p:sp>
      <p:sp>
        <p:nvSpPr>
          <p:cNvPr id="4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4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400" b="0" u="none" strike="noStrike">
                <a:solidFill>
                  <a:srgbClr val="000000"/>
                </a:solidFill>
                <a:effectLst/>
                <a:uFillTx/>
                <a:latin typeface="Arial"/>
              </a:rPr>
              <a:t>Fifth Outline Level</a:t>
            </a:r>
            <a:endParaRPr lang="en-US" sz="14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400" b="0" u="none" strike="noStrike">
                <a:solidFill>
                  <a:srgbClr val="000000"/>
                </a:solidFill>
                <a:effectLst/>
                <a:uFillTx/>
                <a:latin typeface="Arial"/>
              </a:rPr>
              <a:t>Sixth Outline Level</a:t>
            </a:r>
            <a:endParaRPr lang="en-US" sz="14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400" b="0" u="none" strike="noStrike">
                <a:solidFill>
                  <a:srgbClr val="000000"/>
                </a:solidFill>
                <a:effectLst/>
                <a:uFillTx/>
                <a:latin typeface="Arial"/>
              </a:rPr>
              <a:t>Seventh Outline Level</a:t>
            </a:r>
            <a:endParaRPr lang="en-US" sz="1400" b="0" u="none" strike="noStrike">
              <a:solidFill>
                <a:srgbClr val="000000"/>
              </a:solidFill>
              <a:effectLst/>
              <a:uFillTx/>
              <a:latin typeface="Arial"/>
            </a:endParaRPr>
          </a:p>
        </p:txBody>
      </p:sp>
      <p:sp>
        <p:nvSpPr>
          <p:cNvPr id="4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47" name="PlaceHolder 4"/>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8" name="PlaceHolder 5"/>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9" name="PlaceHolder 6"/>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0B3E5C59-9812-43DC-AC97-8155325FA35A}"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a:buNone/>
              <a:defRPr lang="en-US" sz="4400" b="0" u="none" strike="noStrike">
                <a:solidFill>
                  <a:srgbClr val="000000"/>
                </a:solidFill>
                <a:effectLst/>
                <a:uFillTx/>
                <a:latin typeface="Arial"/>
              </a:defRPr>
            </a:lvl1pPr>
          </a:lstStyle>
          <a:p>
            <a:pPr indent="0" algn="l">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51" name="PlaceHolder 2"/>
          <p:cNvSpPr>
            <a:spLocks noGrp="1"/>
          </p:cNvSpPr>
          <p:nvPr>
            <p:ph type="body"/>
          </p:nvPr>
        </p:nvSpPr>
        <p:spPr>
          <a:xfrm rot="5400000">
            <a:off x="3920400" y="-1256400"/>
            <a:ext cx="4350960" cy="1051524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52" name="PlaceHolder 3"/>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3" name="PlaceHolder 4"/>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5"/>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532D62D7-4B3C-4DEB-B82B-0C539E89113C}"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p>
            <a:pPr indent="0" algn="ctr">
              <a:lnSpc>
                <a:spcPct val="90000"/>
              </a:lnSpc>
              <a:buNone/>
            </a:pPr>
            <a:r>
              <a:rPr lang="en-US" sz="6600" b="1" u="none" strike="noStrike">
                <a:solidFill>
                  <a:schemeClr val="dk1"/>
                </a:solidFill>
                <a:effectLst/>
                <a:uFillTx/>
                <a:latin typeface="Calibri"/>
                <a:ea typeface="Calibri"/>
              </a:rPr>
              <a:t>IBM University Engagement Project Submission</a:t>
            </a:r>
            <a:br>
              <a:rPr sz="6000"/>
            </a:br>
            <a:endParaRPr lang="en-US" sz="6600" b="0" u="none" strike="noStrike">
              <a:solidFill>
                <a:srgbClr val="000000"/>
              </a:solidFill>
              <a:effectLst/>
              <a:uFillTx/>
              <a:latin typeface="Arial"/>
            </a:endParaRPr>
          </a:p>
        </p:txBody>
      </p:sp>
      <p:sp>
        <p:nvSpPr>
          <p:cNvPr id="56" name="PlaceHolder 2"/>
          <p:cNvSpPr>
            <a:spLocks noGrp="1"/>
          </p:cNvSpPr>
          <p:nvPr>
            <p:ph/>
          </p:nvPr>
        </p:nvSpPr>
        <p:spPr>
          <a:xfrm>
            <a:off x="1014840" y="3903840"/>
            <a:ext cx="10515240" cy="1499760"/>
          </a:xfrm>
          <a:prstGeom prst="rect">
            <a:avLst/>
          </a:prstGeom>
          <a:noFill/>
          <a:ln w="0">
            <a:noFill/>
          </a:ln>
        </p:spPr>
        <p:txBody>
          <a:bodyPr lIns="91440" tIns="45720" rIns="91440" bIns="45720" anchor="t">
            <a:noAutofit/>
          </a:bodyPr>
          <a:p>
            <a:pPr marL="457200" indent="-228600" algn="ctr">
              <a:lnSpc>
                <a:spcPct val="90000"/>
              </a:lnSpc>
              <a:spcBef>
                <a:spcPts val="1001"/>
              </a:spcBef>
              <a:buNone/>
              <a:tabLst>
                <a:tab pos="0" algn="l"/>
              </a:tabLst>
            </a:pPr>
            <a:r>
              <a:rPr lang="en-US" sz="2400" b="1" i="1" u="none" strike="noStrike">
                <a:solidFill>
                  <a:schemeClr val="dk1"/>
                </a:solidFill>
                <a:effectLst/>
                <a:uFillTx/>
                <a:latin typeface="Calibri"/>
                <a:ea typeface="Calibri"/>
              </a:rPr>
              <a:t>“Exploring the Power of Agentic AI with IBM Granite and LangFlow”</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Google Shape;92;p2"/>
          <p:cNvSpPr/>
          <p:nvPr/>
        </p:nvSpPr>
        <p:spPr>
          <a:xfrm>
            <a:off x="690480" y="4425480"/>
            <a:ext cx="10795320" cy="198720"/>
          </a:xfrm>
          <a:prstGeom prst="rect">
            <a:avLst/>
          </a:prstGeom>
          <a:noFill/>
          <a:ln w="0">
            <a:noFill/>
          </a:ln>
        </p:spPr>
        <p:style>
          <a:lnRef idx="0"/>
          <a:fillRef idx="0"/>
          <a:effectRef idx="0"/>
          <a:fontRef idx="minor"/>
        </p:style>
        <p:txBody>
          <a:bodyPr lIns="0" tIns="0" rIns="0" bIns="0" anchor="t">
            <a:noAutofit/>
          </a:bodyPr>
          <a:p>
            <a:endParaRPr lang="en-US" sz="1500" b="0" u="none" strike="noStrike">
              <a:solidFill>
                <a:schemeClr val="dk1"/>
              </a:solidFill>
              <a:effectLst/>
              <a:uFillTx/>
              <a:latin typeface="Times New Roman"/>
            </a:endParaRPr>
          </a:p>
        </p:txBody>
      </p:sp>
      <p:sp>
        <p:nvSpPr>
          <p:cNvPr id="58" name="Google Shape;95;p2"/>
          <p:cNvSpPr/>
          <p:nvPr/>
        </p:nvSpPr>
        <p:spPr>
          <a:xfrm>
            <a:off x="1102320" y="1174680"/>
            <a:ext cx="7426080" cy="451080"/>
          </a:xfrm>
          <a:prstGeom prst="rect">
            <a:avLst/>
          </a:prstGeom>
          <a:noFill/>
          <a:ln w="0">
            <a:noFill/>
          </a:ln>
        </p:spPr>
        <p:style>
          <a:lnRef idx="0"/>
          <a:fillRef idx="0"/>
          <a:effectRef idx="0"/>
          <a:fontRef idx="minor"/>
        </p:style>
        <p:txBody>
          <a:bodyPr anchor="ctr">
            <a:noAutofit/>
          </a:bodyPr>
          <a:p>
            <a:endParaRPr lang="en-US" sz="3200" b="1" u="none" strike="noStrike">
              <a:solidFill>
                <a:srgbClr val="002060"/>
              </a:solidFill>
              <a:effectLst/>
              <a:uFillTx/>
              <a:latin typeface="Times New Roman"/>
            </a:endParaRPr>
          </a:p>
        </p:txBody>
      </p:sp>
      <p:graphicFrame>
        <p:nvGraphicFramePr>
          <p:cNvPr id="59" name="Google Shape;96;p2"/>
          <p:cNvGraphicFramePr/>
          <p:nvPr/>
        </p:nvGraphicFramePr>
        <p:xfrm>
          <a:off x="1299240" y="2600280"/>
          <a:ext cx="9394560" cy="216684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Student Name</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Recent Passport Photo</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Email ID </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Mobile number</a:t>
                      </a:r>
                      <a:endParaRPr lang="en-US" sz="1800" b="0" u="none" strike="noStrike">
                        <a:solidFill>
                          <a:srgbClr val="FFFFFF"/>
                        </a:solidFill>
                        <a:effectLst/>
                        <a:uFillTx/>
                        <a:latin typeface="Arial"/>
                      </a:endParaRPr>
                    </a:p>
                    <a:p>
                      <a:pPr algn="ctr">
                        <a:lnSpc>
                          <a:spcPct val="100000"/>
                        </a:lnSpc>
                        <a:tabLst>
                          <a:tab pos="0" algn="l"/>
                        </a:tabLst>
                      </a:pPr>
                      <a:r>
                        <a:rPr lang="en-US" sz="1800" b="0" u="none" strike="noStrike">
                          <a:solidFill>
                            <a:srgbClr val="000000"/>
                          </a:solidFill>
                          <a:effectLst/>
                          <a:uFillTx/>
                          <a:latin typeface="Arial"/>
                          <a:ea typeface="Calibri"/>
                        </a:rPr>
                        <a:t>[WhatsApp] </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pPr>
                        <a:lnSpc>
                          <a:spcPct val="100000"/>
                        </a:lnSpc>
                        <a:tabLst>
                          <a:tab pos="0" algn="l"/>
                        </a:tabLst>
                      </a:pPr>
                      <a:endParaRPr lang="en-US" sz="1400" b="0" u="none" strike="noStrike">
                        <a:solidFill>
                          <a:srgbClr val="000000"/>
                        </a:solidFill>
                        <a:effectLst/>
                        <a:uFillTx/>
                        <a:latin typeface="Arial"/>
                      </a:endParaRPr>
                    </a:p>
                    <a:p>
                      <a:pPr>
                        <a:lnSpc>
                          <a:spcPct val="100000"/>
                        </a:lnSpc>
                        <a:tabLst>
                          <a:tab pos="0" algn="l"/>
                        </a:tabLst>
                      </a:pPr>
                      <a:endParaRPr lang="en-US" sz="1400" b="0" u="none" strike="noStrike">
                        <a:solidFill>
                          <a:srgbClr val="000000"/>
                        </a:solidFill>
                        <a:effectLst/>
                        <a:uFillTx/>
                        <a:latin typeface="Arial"/>
                      </a:endParaRPr>
                    </a:p>
                    <a:p>
                      <a:pPr algn="ctr">
                        <a:lnSpc>
                          <a:spcPct val="100000"/>
                        </a:lnSpc>
                        <a:tabLst>
                          <a:tab pos="0" algn="l"/>
                        </a:tabLst>
                      </a:pPr>
                      <a:r>
                        <a:rPr lang="en-IN" sz="1400" b="0" u="none" strike="noStrike">
                          <a:solidFill>
                            <a:srgbClr val="000000"/>
                          </a:solidFill>
                          <a:effectLst/>
                          <a:uFillTx/>
                          <a:latin typeface="Arial"/>
                          <a:ea typeface="Arial"/>
                        </a:rPr>
                        <a:t>A Keerthana</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pos="0" algn="l"/>
                        </a:tabLst>
                      </a:pPr>
                      <a:endParaRPr lang="en-US" sz="1400" b="0" u="none" strike="noStrike">
                        <a:solidFill>
                          <a:srgbClr val="000000"/>
                        </a:solidFill>
                        <a:effectLst/>
                        <a:uFillTx/>
                        <a:latin typeface="Arial"/>
                      </a:endParaRPr>
                    </a:p>
                    <a:p>
                      <a:pPr>
                        <a:lnSpc>
                          <a:spcPct val="100000"/>
                        </a:lnSpc>
                        <a:tabLst>
                          <a:tab pos="0" algn="l"/>
                        </a:tabLst>
                      </a:pPr>
                      <a:endParaRPr lang="en-US" sz="1400" b="0" u="none" strike="noStrike">
                        <a:solidFill>
                          <a:srgbClr val="000000"/>
                        </a:solidFill>
                        <a:effectLst/>
                        <a:uFillTx/>
                        <a:latin typeface="Arial"/>
                      </a:endParaRPr>
                    </a:p>
                    <a:p>
                      <a:pPr algn="ctr">
                        <a:lnSpc>
                          <a:spcPct val="100000"/>
                        </a:lnSpc>
                        <a:tabLst>
                          <a:tab pos="0" algn="l"/>
                        </a:tabLst>
                      </a:pPr>
                      <a:r>
                        <a:rPr lang="en-IN" sz="1200" b="0" u="none" strike="noStrike">
                          <a:solidFill>
                            <a:srgbClr val="000000"/>
                          </a:solidFill>
                          <a:effectLst/>
                          <a:uFillTx/>
                          <a:latin typeface="Arial"/>
                          <a:ea typeface="Arial"/>
                        </a:rPr>
                        <a:t>aenugukeerthanareddy@gmail.com</a:t>
                      </a:r>
                      <a:endParaRPr lang="en-US"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100000"/>
                        </a:lnSpc>
                        <a:tabLst>
                          <a:tab pos="0" algn="l"/>
                        </a:tabLst>
                      </a:pPr>
                      <a:endParaRPr lang="en-US" sz="1400" b="0" u="none" strike="noStrike">
                        <a:solidFill>
                          <a:srgbClr val="000000"/>
                        </a:solidFill>
                        <a:effectLst/>
                        <a:uFillTx/>
                        <a:latin typeface="Arial"/>
                      </a:endParaRPr>
                    </a:p>
                    <a:p>
                      <a:pPr>
                        <a:lnSpc>
                          <a:spcPct val="100000"/>
                        </a:lnSpc>
                        <a:tabLst>
                          <a:tab pos="0" algn="l"/>
                        </a:tabLst>
                      </a:pPr>
                      <a:endParaRPr lang="en-US" sz="1400" b="0" u="none" strike="noStrike">
                        <a:solidFill>
                          <a:srgbClr val="000000"/>
                        </a:solidFill>
                        <a:effectLst/>
                        <a:uFillTx/>
                        <a:latin typeface="Arial"/>
                      </a:endParaRPr>
                    </a:p>
                    <a:p>
                      <a:pPr algn="ctr">
                        <a:lnSpc>
                          <a:spcPct val="100000"/>
                        </a:lnSpc>
                        <a:tabLst>
                          <a:tab pos="0" algn="l"/>
                        </a:tabLst>
                      </a:pPr>
                      <a:r>
                        <a:rPr lang="en-IN" sz="1400" b="0" u="none" strike="noStrike">
                          <a:solidFill>
                            <a:srgbClr val="000000"/>
                          </a:solidFill>
                          <a:effectLst/>
                          <a:uFillTx/>
                          <a:latin typeface="Arial"/>
                          <a:ea typeface="Arial"/>
                        </a:rPr>
                        <a:t>+91 7842553347</a:t>
                      </a:r>
                      <a:endParaRPr lang="en-US" sz="1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sp>
        <p:nvSpPr>
          <p:cNvPr id="60" name="TextBox 3"/>
          <p:cNvSpPr/>
          <p:nvPr/>
        </p:nvSpPr>
        <p:spPr>
          <a:xfrm>
            <a:off x="1206000" y="1460880"/>
            <a:ext cx="10279800" cy="8305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Domain of  Project – </a:t>
            </a:r>
            <a:r>
              <a:rPr lang="en-US" sz="2400" b="0" u="none" strike="noStrike">
                <a:solidFill>
                  <a:srgbClr val="000000"/>
                </a:solidFill>
                <a:effectLst/>
                <a:highlight>
                  <a:srgbClr val="FFFF00"/>
                </a:highlight>
                <a:uFillTx/>
                <a:latin typeface="Arial"/>
                <a:ea typeface="Arial"/>
              </a:rPr>
              <a:t>Artificial Intelligence (AI) / Natural Language Processing (NLP) / Research Automation</a:t>
            </a:r>
            <a:endParaRPr lang="en-US" sz="2400" b="0" u="none" strike="noStrike">
              <a:solidFill>
                <a:srgbClr val="000000"/>
              </a:solidFill>
              <a:effectLst/>
              <a:uFillTx/>
              <a:latin typeface="Arial"/>
            </a:endParaRPr>
          </a:p>
        </p:txBody>
      </p:sp>
      <p:sp>
        <p:nvSpPr>
          <p:cNvPr id="61" name="TextBox 6"/>
          <p:cNvSpPr/>
          <p:nvPr/>
        </p:nvSpPr>
        <p:spPr>
          <a:xfrm>
            <a:off x="1206000" y="551880"/>
            <a:ext cx="9580680" cy="8305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Project Title – </a:t>
            </a:r>
            <a:r>
              <a:rPr lang="en-US" sz="2400" b="0" u="none" strike="noStrike">
                <a:solidFill>
                  <a:srgbClr val="000000"/>
                </a:solidFill>
                <a:effectLst/>
                <a:highlight>
                  <a:srgbClr val="FFFF00"/>
                </a:highlight>
                <a:uFillTx/>
                <a:latin typeface="Arial"/>
                <a:ea typeface="Arial"/>
              </a:rPr>
              <a:t>IntelliResearch AI – Smart Research Assistant using IBM Granite</a:t>
            </a:r>
            <a:endParaRPr lang="en-US" sz="2400" b="0" u="none" strike="noStrike">
              <a:solidFill>
                <a:srgbClr val="000000"/>
              </a:solidFill>
              <a:effectLst/>
              <a:uFillTx/>
              <a:latin typeface="Arial"/>
            </a:endParaRPr>
          </a:p>
        </p:txBody>
      </p:sp>
      <p:pic>
        <p:nvPicPr>
          <p:cNvPr id="62" name="Picture 2"/>
          <p:cNvPicPr/>
          <p:nvPr/>
        </p:nvPicPr>
        <p:blipFill>
          <a:blip r:embed="rId1"/>
          <a:stretch/>
        </p:blipFill>
        <p:spPr>
          <a:xfrm>
            <a:off x="4052520" y="3720960"/>
            <a:ext cx="903240" cy="9032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TextBox 1"/>
          <p:cNvSpPr/>
          <p:nvPr/>
        </p:nvSpPr>
        <p:spPr>
          <a:xfrm>
            <a:off x="576000" y="1234440"/>
            <a:ext cx="10606680" cy="50472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Arial"/>
                <a:ea typeface="Arial"/>
              </a:rPr>
              <a:t>Problem Statement : Research Agent</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Challenge</a:t>
            </a:r>
            <a:r>
              <a:rPr lang="en-US" sz="1400" b="0" u="none" strike="noStrike">
                <a:solidFill>
                  <a:srgbClr val="000000"/>
                </a:solidFill>
                <a:effectLst/>
                <a:uFillTx/>
                <a:latin typeface="Arial"/>
                <a:ea typeface="Arial"/>
              </a:rPr>
              <a:t>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Researchers and students face difficulty in finding, analyzing, and organizing reliable research information quickly. Manual research takes a lot of time and effort.</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Objective</a:t>
            </a:r>
            <a:r>
              <a:rPr lang="en-US" sz="1400" b="0" u="none" strike="noStrike">
                <a:solidFill>
                  <a:srgbClr val="000000"/>
                </a:solidFill>
                <a:effectLst/>
                <a:uFillTx/>
                <a:latin typeface="Arial"/>
                <a:ea typeface="Arial"/>
              </a:rPr>
              <a:t> </a:t>
            </a: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main objective of this project is to develop an AI-powered Research Agent using IBM Granite and IBM Cloud Lite services that can help researchers, students, doctors, teachers, and professionals perform research tasks more efficiently and intelligently. The system aims to automate time-consuming activities such as searching for relevant research papers, summarizing lengthy documents, extracting important insights, organizing references, and generating structured research reports.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Research Agent will use Natural Language Processing (NLP) and AI technologies to understand user queries and provide accurate, fast, and meaningful responses. It will help users access reliable information from multiple sources and reduce the manual effort required during the research process.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Another objective of the project is to improve productivity, research accuracy, knowledge management, and decision-making by providing smart AI-based assistance. The system will also support citation management, hypothesis generation, data extraction, and research content organization.</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project further aims to create a user-friendly and scalable platform that can be used in academic institutions, healthcare research, industrial R&amp;D, and innovation-based environments. By integrating IBM Granite models and IBM Cloud services, the solution will demonstrate the practical use of AI in solving real-world research challenges efficiently and effectively.</a:t>
            </a:r>
            <a:endParaRPr lang="en-US" sz="1400" b="0" u="none" strike="noStrike">
              <a:solidFill>
                <a:srgbClr val="000000"/>
              </a:solidFill>
              <a:effectLst/>
              <a:uFillTx/>
              <a:latin typeface="Arial"/>
            </a:endParaRPr>
          </a:p>
        </p:txBody>
      </p:sp>
      <p:sp>
        <p:nvSpPr>
          <p:cNvPr id="64" name="TextBox 2"/>
          <p:cNvSpPr/>
          <p:nvPr/>
        </p:nvSpPr>
        <p:spPr>
          <a:xfrm>
            <a:off x="576000" y="70416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Problem Statement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TextBox 1"/>
          <p:cNvSpPr/>
          <p:nvPr/>
        </p:nvSpPr>
        <p:spPr>
          <a:xfrm>
            <a:off x="667440" y="1165680"/>
            <a:ext cx="10606680" cy="24616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IN" sz="1400" b="0" u="none" strike="noStrike">
                <a:solidFill>
                  <a:srgbClr val="000000"/>
                </a:solidFill>
                <a:effectLst/>
                <a:uFillTx/>
                <a:latin typeface="Arial"/>
                <a:ea typeface="Arial"/>
              </a:rPr>
              <a:t>LangFlow</a:t>
            </a: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IN" sz="1400" b="0" u="none" strike="noStrike">
                <a:solidFill>
                  <a:srgbClr val="000000"/>
                </a:solidFill>
                <a:effectLst/>
                <a:uFillTx/>
                <a:latin typeface="Arial"/>
                <a:ea typeface="Arial"/>
              </a:rPr>
              <a:t>IBM watsonx.ai</a:t>
            </a:r>
            <a:endParaRPr lang="en-US" sz="1400" b="0" u="none" strike="noStrike">
              <a:solidFill>
                <a:srgbClr val="000000"/>
              </a:solidFill>
              <a:effectLst/>
              <a:uFillTx/>
              <a:latin typeface="Arial"/>
            </a:endParaRPr>
          </a:p>
          <a:p>
            <a:pPr marL="285840" indent="-285840">
              <a:lnSpc>
                <a:spcPct val="100000"/>
              </a:lnSpc>
              <a:buClr>
                <a:srgbClr val="000000"/>
              </a:buClr>
              <a:buFont typeface="Arial"/>
              <a:buChar char="•"/>
            </a:pPr>
            <a:r>
              <a:rPr lang="en-IN" sz="1400" b="0" u="none" strike="noStrike">
                <a:solidFill>
                  <a:srgbClr val="000000"/>
                </a:solidFill>
                <a:effectLst/>
                <a:uFillTx/>
                <a:latin typeface="Arial"/>
                <a:ea typeface="Arial"/>
              </a:rPr>
              <a:t>Granite Models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IN" sz="1400" b="0" u="none" strike="noStrike">
                <a:solidFill>
                  <a:srgbClr val="000000"/>
                </a:solidFill>
                <a:effectLst/>
                <a:uFillTx/>
                <a:latin typeface="Arial"/>
                <a:ea typeface="Arial"/>
              </a:rPr>
              <a:t>I used </a:t>
            </a:r>
            <a:r>
              <a:rPr lang="en-IN" sz="1400" b="0" u="none" strike="noStrike">
                <a:solidFill>
                  <a:srgbClr val="000000"/>
                </a:solidFill>
                <a:effectLst/>
                <a:highlight>
                  <a:srgbClr val="FFFF00"/>
                </a:highlight>
                <a:uFillTx/>
                <a:latin typeface="Arial"/>
                <a:ea typeface="Arial"/>
              </a:rPr>
              <a:t>LangFlow + IBM watsonx.ai + Granite Models.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
        <p:nvSpPr>
          <p:cNvPr id="66" name="TextBox 2"/>
          <p:cNvSpPr/>
          <p:nvPr/>
        </p:nvSpPr>
        <p:spPr>
          <a:xfrm>
            <a:off x="576000" y="70416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Technology Used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Box 1"/>
          <p:cNvSpPr/>
          <p:nvPr/>
        </p:nvSpPr>
        <p:spPr>
          <a:xfrm>
            <a:off x="576000" y="1234440"/>
            <a:ext cx="10606680" cy="41853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Proposed Solution: AI-Powered Research Agent</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proposed solution is to develop an AI-powered Research Agent using IBM Granite models and IBM Cloud Lite services that can assist users in performing smart and efficient research activities. The system will allow users to enter research-related queries in natural language and automatically retrieve relevant information from trusted sources.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Research Agent will analyze research papers, summarize lengthy documents, extract key insights, and organize references in a structured manner. It will also support citation management, report generation, and intelligent information retrieval to reduce manual effort and save time.</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Using Natural Language Processing (NLP) and Machine Learning techniques, the system will understand user requirements and provide accurate and meaningful responses. The platform will feature an interactive and user-friendly interface where users can upload documents, search for topics, and receive AI-generated summaries and suggestions.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solution will improve research productivity, accuracy, and accessibility for students, researchers, doctors, teachers, and professionals. By integrating IBM Granite AI models with cloud-based services, the project aims to create a scalable, intelligent, and real-world research assistance platform.</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
        <p:nvSpPr>
          <p:cNvPr id="68" name="TextBox 2"/>
          <p:cNvSpPr/>
          <p:nvPr/>
        </p:nvSpPr>
        <p:spPr>
          <a:xfrm>
            <a:off x="576000" y="704160"/>
            <a:ext cx="721440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Proposed Solution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Langflow</a:t>
            </a:r>
            <a:r>
              <a:rPr lang="en-US" sz="3500" b="1" u="none" strike="noStrike">
                <a:solidFill>
                  <a:srgbClr val="051D3A"/>
                </a:solidFill>
                <a:effectLst/>
                <a:uFillTx/>
                <a:latin typeface="Times New Roman"/>
                <a:ea typeface="Times New Roman"/>
              </a:rPr>
              <a:t> </a:t>
            </a:r>
            <a:r>
              <a:rPr lang="en-US" sz="2400" b="1" u="none" strike="noStrike">
                <a:solidFill>
                  <a:srgbClr val="000000"/>
                </a:solidFill>
                <a:effectLst/>
                <a:uFillTx/>
                <a:latin typeface="Arial"/>
                <a:ea typeface="Arial"/>
              </a:rPr>
              <a:t>component Used -</a:t>
            </a:r>
            <a:endParaRPr lang="en-US" sz="2400" b="0" u="none" strike="noStrike">
              <a:solidFill>
                <a:srgbClr val="000000"/>
              </a:solidFill>
              <a:effectLst/>
              <a:uFillTx/>
              <a:latin typeface="Arial"/>
            </a:endParaRPr>
          </a:p>
        </p:txBody>
      </p:sp>
      <p:sp>
        <p:nvSpPr>
          <p:cNvPr id="70" name="Google Shape;148;p5"/>
          <p:cNvSpPr/>
          <p:nvPr/>
        </p:nvSpPr>
        <p:spPr>
          <a:xfrm>
            <a:off x="2264400" y="6784560"/>
            <a:ext cx="2140560" cy="2239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1" name="Google Shape;149;p5"/>
          <p:cNvSpPr/>
          <p:nvPr/>
        </p:nvSpPr>
        <p:spPr>
          <a:xfrm>
            <a:off x="1782720" y="7100280"/>
            <a:ext cx="3103920" cy="7315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2" name="Google Shape;150;p5"/>
          <p:cNvSpPr/>
          <p:nvPr/>
        </p:nvSpPr>
        <p:spPr>
          <a:xfrm>
            <a:off x="5732280" y="6784560"/>
            <a:ext cx="1793520" cy="2239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3" name="Google Shape;151;p5"/>
          <p:cNvSpPr/>
          <p:nvPr/>
        </p:nvSpPr>
        <p:spPr>
          <a:xfrm>
            <a:off x="5077440" y="7100280"/>
            <a:ext cx="3103920" cy="7315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4" name="Google Shape;152;p5"/>
          <p:cNvSpPr/>
          <p:nvPr/>
        </p:nvSpPr>
        <p:spPr>
          <a:xfrm>
            <a:off x="9027000" y="6784560"/>
            <a:ext cx="1793520" cy="2239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5" name="Google Shape;153;p5"/>
          <p:cNvSpPr/>
          <p:nvPr/>
        </p:nvSpPr>
        <p:spPr>
          <a:xfrm>
            <a:off x="8372160" y="7100280"/>
            <a:ext cx="3103920" cy="7315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6" name="TextBox 1"/>
          <p:cNvSpPr/>
          <p:nvPr/>
        </p:nvSpPr>
        <p:spPr>
          <a:xfrm>
            <a:off x="474840" y="863280"/>
            <a:ext cx="8823600" cy="48315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1) Chat Input –</a:t>
            </a:r>
            <a:r>
              <a:rPr lang="en-US" sz="1400" b="0" u="none" strike="noStrike">
                <a:solidFill>
                  <a:srgbClr val="000000"/>
                </a:solidFill>
                <a:effectLst/>
                <a:uFillTx/>
                <a:latin typeface="Arial"/>
                <a:ea typeface="Arial"/>
              </a:rPr>
              <a:t> Interface where users enter their queries, preferences, or meal details (text/voice/image).</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2) IBM watsonx AI Agent </a:t>
            </a:r>
            <a:r>
              <a:rPr lang="en-US" sz="1400" b="0" u="none" strike="noStrike">
                <a:solidFill>
                  <a:srgbClr val="000000"/>
                </a:solidFill>
                <a:effectLst/>
                <a:uFillTx/>
                <a:latin typeface="Arial"/>
                <a:ea typeface="Arial"/>
              </a:rPr>
              <a:t>- Processes user input using Granite models to generate personalized research insights and recommendations.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3) Name of IBM Granite model - </a:t>
            </a:r>
            <a:r>
              <a:rPr lang="en-US" sz="1400" b="0" u="none" strike="noStrike">
                <a:solidFill>
                  <a:srgbClr val="000000"/>
                </a:solidFill>
                <a:effectLst/>
                <a:uFillTx/>
                <a:latin typeface="Arial"/>
                <a:ea typeface="Arial"/>
              </a:rPr>
              <a:t>Granite-8B-Code-Instruct → Fast, efficient for real-time diet recommendations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4) Chat output - </a:t>
            </a:r>
            <a:r>
              <a:rPr lang="en-US" sz="1400" b="0" u="none" strike="noStrike">
                <a:solidFill>
                  <a:srgbClr val="000000"/>
                </a:solidFill>
                <a:effectLst/>
                <a:uFillTx/>
                <a:latin typeface="Arial"/>
                <a:ea typeface="Arial"/>
              </a:rPr>
              <a:t>Displays AI-generated responses such as – top university for Computer Science &amp; Engineering and etc. </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5) </a:t>
            </a:r>
            <a:r>
              <a:rPr lang="en-US" sz="1400" b="1" u="none" strike="noStrike">
                <a:solidFill>
                  <a:srgbClr val="000000"/>
                </a:solidFill>
                <a:effectLst/>
                <a:highlight>
                  <a:srgbClr val="FFFF00"/>
                </a:highlight>
                <a:uFillTx/>
                <a:latin typeface="Arial"/>
                <a:ea typeface="Arial"/>
              </a:rPr>
              <a:t>File component - </a:t>
            </a:r>
            <a:r>
              <a:rPr lang="en-US" sz="1400" b="0" u="none" strike="noStrike">
                <a:solidFill>
                  <a:srgbClr val="000000"/>
                </a:solidFill>
                <a:effectLst/>
                <a:highlight>
                  <a:srgbClr val="FFFF00"/>
                </a:highlight>
                <a:uFillTx/>
                <a:latin typeface="Arial"/>
                <a:ea typeface="Arial"/>
              </a:rPr>
              <a:t>Stores and retrieves user data, meal logs, and research datasets for analysis and tracking.</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 </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Langflow</a:t>
            </a:r>
            <a:r>
              <a:rPr lang="en-US" sz="3500" b="1" u="none" strike="noStrike">
                <a:solidFill>
                  <a:srgbClr val="051D3A"/>
                </a:solidFill>
                <a:effectLst/>
                <a:uFillTx/>
                <a:latin typeface="Times New Roman"/>
                <a:ea typeface="Times New Roman"/>
              </a:rPr>
              <a:t> </a:t>
            </a:r>
            <a:r>
              <a:rPr lang="en-US" sz="2400" b="1" u="none" strike="noStrike">
                <a:solidFill>
                  <a:srgbClr val="000000"/>
                </a:solidFill>
                <a:effectLst/>
                <a:uFillTx/>
                <a:latin typeface="Arial"/>
                <a:ea typeface="Arial"/>
              </a:rPr>
              <a:t>workflow -</a:t>
            </a:r>
            <a:endParaRPr lang="en-US" sz="2400" b="0" u="none" strike="noStrike">
              <a:solidFill>
                <a:srgbClr val="000000"/>
              </a:solidFill>
              <a:effectLst/>
              <a:uFillTx/>
              <a:latin typeface="Arial"/>
            </a:endParaRPr>
          </a:p>
        </p:txBody>
      </p:sp>
      <p:pic>
        <p:nvPicPr>
          <p:cNvPr id="78" name="Picture 4"/>
          <p:cNvPicPr/>
          <p:nvPr/>
        </p:nvPicPr>
        <p:blipFill>
          <a:blip r:embed="rId1"/>
          <a:stretch/>
        </p:blipFill>
        <p:spPr>
          <a:xfrm>
            <a:off x="603360" y="1060560"/>
            <a:ext cx="11072880" cy="54738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400" b="1" u="none" strike="noStrike">
                <a:solidFill>
                  <a:schemeClr val="dk1"/>
                </a:solidFill>
                <a:effectLst/>
                <a:uFillTx/>
                <a:latin typeface="Calibri"/>
                <a:ea typeface="Calibri"/>
              </a:rPr>
              <a:t>Architecture blueprint</a:t>
            </a:r>
            <a:endParaRPr lang="en-US" sz="2400" b="0" u="none" strike="noStrike">
              <a:solidFill>
                <a:srgbClr val="000000"/>
              </a:solidFill>
              <a:effectLst/>
              <a:uFillTx/>
              <a:latin typeface="Arial"/>
            </a:endParaRPr>
          </a:p>
        </p:txBody>
      </p:sp>
      <p:pic>
        <p:nvPicPr>
          <p:cNvPr id="80" name="Picture 3"/>
          <p:cNvPicPr/>
          <p:nvPr/>
        </p:nvPicPr>
        <p:blipFill>
          <a:blip r:embed="rId1"/>
          <a:stretch/>
        </p:blipFill>
        <p:spPr>
          <a:xfrm>
            <a:off x="537480" y="694080"/>
            <a:ext cx="11038320" cy="58525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Google Shape;196;p9"/>
          <p:cNvPicPr/>
          <p:nvPr/>
        </p:nvPicPr>
        <p:blipFill>
          <a:blip r:embed="rId1"/>
          <a:stretch/>
        </p:blipFill>
        <p:spPr>
          <a:xfrm>
            <a:off x="8372160" y="1167480"/>
            <a:ext cx="3015000" cy="4522680"/>
          </a:xfrm>
          <a:prstGeom prst="rect">
            <a:avLst/>
          </a:prstGeom>
          <a:noFill/>
          <a:ln w="0">
            <a:noFill/>
          </a:ln>
        </p:spPr>
      </p:pic>
      <p:sp>
        <p:nvSpPr>
          <p:cNvPr id="82" name="TextBox 1"/>
          <p:cNvSpPr/>
          <p:nvPr/>
        </p:nvSpPr>
        <p:spPr>
          <a:xfrm>
            <a:off x="475560" y="283320"/>
            <a:ext cx="9317520" cy="584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3200" b="1" u="none" strike="noStrike">
                <a:solidFill>
                  <a:srgbClr val="000000"/>
                </a:solidFill>
                <a:effectLst/>
                <a:uFillTx/>
                <a:latin typeface="Arial"/>
                <a:ea typeface="Arial"/>
              </a:rPr>
              <a:t>Role of Agentic AI in the solution </a:t>
            </a:r>
            <a:endParaRPr lang="en-US" sz="3200" b="0" u="none" strike="noStrike">
              <a:solidFill>
                <a:srgbClr val="000000"/>
              </a:solidFill>
              <a:effectLst/>
              <a:uFillTx/>
              <a:latin typeface="Arial"/>
            </a:endParaRPr>
          </a:p>
        </p:txBody>
      </p:sp>
      <p:sp>
        <p:nvSpPr>
          <p:cNvPr id="83" name="TextBox 2"/>
          <p:cNvSpPr/>
          <p:nvPr/>
        </p:nvSpPr>
        <p:spPr>
          <a:xfrm>
            <a:off x="621720" y="1167480"/>
            <a:ext cx="7406280" cy="46162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400" b="1" u="none" strike="noStrike">
                <a:solidFill>
                  <a:srgbClr val="000000"/>
                </a:solidFill>
                <a:effectLst/>
                <a:uFillTx/>
                <a:latin typeface="Arial"/>
                <a:ea typeface="Arial"/>
              </a:rPr>
              <a:t>Role of Agentic AI in Research Agent</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Agentic AI plays a major role in the proposed Research Agent solution by enabling the system to perform research tasks intelligently and autonomously with minimal human intervention. Instead of only responding to commands, the Agentic AI system can analyze user queries, make decisions, plan actions, and execute multiple research-related tasks step by step.</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AI agent can automatically search for relevant research papers, extract important information, summarize content, organize references, and generate meaningful research reports. It can understand the research objective, identify suitable sources, and continuously improve responses based on user interaction.</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Agentic AI also helps in reducing manual workload by automating repetitive tasks such as citation management, document analysis, and data extraction. With the support of IBM Granite models and NLP capabilities, the AI agent can provide context-aware, accurate, and intelligent assistance for academic and industrial research.</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use of Agentic AI makes the system more adaptive, efficient, scalable, and capable of handling complex research workflows in a smart and human-like manner.</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TextBox 1"/>
          <p:cNvSpPr/>
          <p:nvPr/>
        </p:nvSpPr>
        <p:spPr>
          <a:xfrm>
            <a:off x="777240" y="484560"/>
            <a:ext cx="712296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Technology Used</a:t>
            </a:r>
            <a:endParaRPr lang="en-US" sz="2400" b="0" u="none" strike="noStrike">
              <a:solidFill>
                <a:srgbClr val="000000"/>
              </a:solidFill>
              <a:effectLst/>
              <a:uFillTx/>
              <a:latin typeface="Arial"/>
            </a:endParaRPr>
          </a:p>
        </p:txBody>
      </p:sp>
      <p:sp>
        <p:nvSpPr>
          <p:cNvPr id="85" name="TextBox 2"/>
          <p:cNvSpPr/>
          <p:nvPr/>
        </p:nvSpPr>
        <p:spPr>
          <a:xfrm>
            <a:off x="777240" y="1207080"/>
            <a:ext cx="10515240" cy="550872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Langflow platform </a:t>
            </a:r>
            <a:r>
              <a:rPr lang="en-US" sz="1800" b="0" u="none" strike="noStrike">
                <a:solidFill>
                  <a:srgbClr val="000000"/>
                </a:solidFill>
                <a:effectLst/>
                <a:uFillTx/>
                <a:latin typeface="Arial"/>
                <a:ea typeface="Arial"/>
              </a:rPr>
              <a:t>- For designing and orchestrating multi-agent workflows visually</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IBM Granite model </a:t>
            </a:r>
            <a:r>
              <a:rPr lang="en-US" sz="1800" b="0" u="none" strike="noStrike">
                <a:solidFill>
                  <a:srgbClr val="000000"/>
                </a:solidFill>
                <a:effectLst/>
                <a:uFillTx/>
                <a:latin typeface="Arial"/>
                <a:ea typeface="Arial"/>
              </a:rPr>
              <a:t>– ibm/granite-8b-code-instruct – For natural language understanding, reasoning, and personalization</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IBM Cloud </a:t>
            </a:r>
            <a:r>
              <a:rPr lang="en-US" sz="1800" b="0" u="none" strike="noStrike">
                <a:solidFill>
                  <a:srgbClr val="000000"/>
                </a:solidFill>
                <a:effectLst/>
                <a:uFillTx/>
                <a:latin typeface="Arial"/>
                <a:ea typeface="Arial"/>
              </a:rPr>
              <a:t>– It provides the infrastructure to build, deploy, and scale the Research Agent efficiently. IBM Cloud enables a </a:t>
            </a:r>
            <a:r>
              <a:rPr lang="en-US" sz="1800" b="1" u="none" strike="noStrike">
                <a:solidFill>
                  <a:srgbClr val="000000"/>
                </a:solidFill>
                <a:effectLst/>
                <a:uFillTx/>
                <a:latin typeface="Arial"/>
                <a:ea typeface="Arial"/>
              </a:rPr>
              <a:t>reliable, secure, and scalable environment</a:t>
            </a:r>
            <a:r>
              <a:rPr lang="en-US" sz="1800" b="0" u="none" strike="noStrike">
                <a:solidFill>
                  <a:srgbClr val="000000"/>
                </a:solidFill>
                <a:effectLst/>
                <a:uFillTx/>
                <a:latin typeface="Arial"/>
                <a:ea typeface="Arial"/>
              </a:rPr>
              <a:t> for deploying the Research Agent.</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RAG </a:t>
            </a:r>
            <a:r>
              <a:rPr lang="en-US" sz="1800" b="0" u="none" strike="noStrike">
                <a:solidFill>
                  <a:srgbClr val="000000"/>
                </a:solidFill>
                <a:effectLst/>
                <a:uFillTx/>
                <a:latin typeface="Arial"/>
                <a:ea typeface="Arial"/>
              </a:rPr>
              <a:t>–</a:t>
            </a:r>
            <a:r>
              <a:rPr lang="en-US" sz="1800" b="1" u="none" strike="noStrike">
                <a:solidFill>
                  <a:srgbClr val="000000"/>
                </a:solidFill>
                <a:effectLst/>
                <a:uFillTx/>
                <a:latin typeface="Arial"/>
                <a:ea typeface="Arial"/>
              </a:rPr>
              <a:t> </a:t>
            </a:r>
            <a:r>
              <a:rPr lang="en-US" sz="1800" b="0" u="none" strike="noStrike">
                <a:solidFill>
                  <a:srgbClr val="000000"/>
                </a:solidFill>
                <a:effectLst/>
                <a:uFillTx/>
                <a:latin typeface="Arial"/>
                <a:ea typeface="Arial"/>
              </a:rPr>
              <a:t>RAG to </a:t>
            </a:r>
            <a:r>
              <a:rPr lang="en-US" sz="1800" b="1" u="none" strike="noStrike">
                <a:solidFill>
                  <a:srgbClr val="000000"/>
                </a:solidFill>
                <a:effectLst/>
                <a:uFillTx/>
                <a:latin typeface="Arial"/>
                <a:ea typeface="Arial"/>
              </a:rPr>
              <a:t>fetch real data first, then generate intelligent answers</a:t>
            </a:r>
            <a:r>
              <a:rPr lang="en-US" sz="1800" b="0" u="none" strike="noStrike">
                <a:solidFill>
                  <a:srgbClr val="000000"/>
                </a:solidFill>
                <a:effectLst/>
                <a:uFillTx/>
                <a:latin typeface="Arial"/>
                <a:ea typeface="Arial"/>
              </a:rPr>
              <a:t>, making the Research Agent more trustworthy and effective.</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800" b="1" u="none" strike="noStrike">
                <a:solidFill>
                  <a:srgbClr val="000000"/>
                </a:solidFill>
                <a:effectLst/>
                <a:uFillTx/>
                <a:latin typeface="Arial"/>
                <a:ea typeface="Arial"/>
              </a:rPr>
              <a:t>IBM Watsonx.ai </a:t>
            </a:r>
            <a:r>
              <a:rPr lang="en-US" sz="1800" b="0" u="none" strike="noStrike">
                <a:solidFill>
                  <a:srgbClr val="000000"/>
                </a:solidFill>
                <a:effectLst/>
                <a:uFillTx/>
                <a:latin typeface="Arial"/>
                <a:ea typeface="Arial"/>
              </a:rPr>
              <a:t>-</a:t>
            </a:r>
            <a:r>
              <a:rPr lang="en-US" sz="1800" b="1" u="none" strike="noStrike">
                <a:solidFill>
                  <a:srgbClr val="000000"/>
                </a:solidFill>
                <a:effectLst/>
                <a:uFillTx/>
                <a:latin typeface="Arial"/>
                <a:ea typeface="Arial"/>
              </a:rPr>
              <a:t> </a:t>
            </a:r>
            <a:r>
              <a:rPr lang="en-US" sz="1800" b="0" u="none" strike="noStrike">
                <a:solidFill>
                  <a:srgbClr val="000000"/>
                </a:solidFill>
                <a:effectLst/>
                <a:uFillTx/>
                <a:latin typeface="Arial"/>
                <a:ea typeface="Arial"/>
              </a:rPr>
              <a:t>For model deployment, embeddings, and AI governance</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marL="285840" indent="-285840">
              <a:lnSpc>
                <a:spcPct val="100000"/>
              </a:lnSpc>
              <a:buClr>
                <a:srgbClr val="000000"/>
              </a:buClr>
              <a:buFont typeface="Arial"/>
              <a:buChar char="•"/>
            </a:pPr>
            <a:r>
              <a:rPr lang="en-IN" sz="1800" b="1" u="none" strike="noStrike">
                <a:solidFill>
                  <a:srgbClr val="000000"/>
                </a:solidFill>
                <a:effectLst/>
                <a:uFillTx/>
                <a:latin typeface="Arial"/>
                <a:ea typeface="Arial"/>
              </a:rPr>
              <a:t>Vector Database </a:t>
            </a:r>
            <a:r>
              <a:rPr lang="en-IN" sz="1800" b="0" u="none" strike="noStrike">
                <a:solidFill>
                  <a:srgbClr val="000000"/>
                </a:solidFill>
                <a:effectLst/>
                <a:uFillTx/>
                <a:latin typeface="Arial"/>
                <a:ea typeface="Arial"/>
              </a:rPr>
              <a:t>(FAISS/Chroma) – For RAG-based research data retrieval</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TextBox 1"/>
          <p:cNvSpPr/>
          <p:nvPr/>
        </p:nvSpPr>
        <p:spPr>
          <a:xfrm>
            <a:off x="777240" y="484560"/>
            <a:ext cx="7122960" cy="461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Novelty and Uniqueness</a:t>
            </a:r>
            <a:endParaRPr lang="en-US" sz="2400" b="0" u="none" strike="noStrike">
              <a:solidFill>
                <a:srgbClr val="000000"/>
              </a:solidFill>
              <a:effectLst/>
              <a:uFillTx/>
              <a:latin typeface="Arial"/>
            </a:endParaRPr>
          </a:p>
        </p:txBody>
      </p:sp>
      <p:sp>
        <p:nvSpPr>
          <p:cNvPr id="87" name="TextBox 2"/>
          <p:cNvSpPr/>
          <p:nvPr/>
        </p:nvSpPr>
        <p:spPr>
          <a:xfrm>
            <a:off x="777240" y="1207080"/>
            <a:ext cx="11301480" cy="48315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800" b="0" u="none" strike="noStrike">
                <a:solidFill>
                  <a:srgbClr val="000000"/>
                </a:solidFill>
                <a:effectLst/>
                <a:uFillTx/>
                <a:latin typeface="Arial"/>
                <a:ea typeface="Arial"/>
              </a:rPr>
              <a:t>The proposed Research Agent stands out by combining </a:t>
            </a:r>
            <a:r>
              <a:rPr lang="en-IN" sz="1800" b="1" u="none" strike="noStrike">
                <a:solidFill>
                  <a:srgbClr val="000000"/>
                </a:solidFill>
                <a:effectLst/>
                <a:uFillTx/>
                <a:latin typeface="Arial"/>
                <a:ea typeface="Arial"/>
              </a:rPr>
              <a:t>Agentic AI, RAG, and personalization</a:t>
            </a:r>
            <a:r>
              <a:rPr lang="en-IN" sz="1800" b="0" u="none" strike="noStrike">
                <a:solidFill>
                  <a:srgbClr val="000000"/>
                </a:solidFill>
                <a:effectLst/>
                <a:uFillTx/>
                <a:latin typeface="Arial"/>
                <a:ea typeface="Arial"/>
              </a:rPr>
              <a:t> into a single intelligent system.</a:t>
            </a:r>
            <a:endParaRPr lang="en-US" sz="18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ea typeface="Arial"/>
              </a:rPr>
              <a:t>The uniqueness of this project lies in the integration of Agentic AI, IBM Granite models, and intelligent research automation into a single smart platform. Unlike traditional search systems that only provide links or static information, the proposed Research Agent can independently analyze user queries, search for relevant research content, summarize papers, extract key insights, and organize information intelligently.</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ea typeface="Arial"/>
              </a:rPr>
              <a:t>The project introduces an AI-driven research workflow where the agent can perform multiple tasks autonomously with minimal human effort. It combines Natural Language Processing (NLP), intelligent document understanding, citation management, and report generation in one unified system.</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ea typeface="Arial"/>
              </a:rPr>
              <a:t>Another innovative aspect of the solution is its ability to provide context-aware and personalized research assistance for students, researchers, doctors, teachers, and professionals across different domains. The use of IBM Granite foundation models and IBM Cloud Lite services makes the platform scalable, efficient, and capable of handling real-world research challenges.</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ea typeface="Arial"/>
              </a:rPr>
              <a:t>The project aims to transform traditional research methods into a faster, smarter, and more interactive AI-powered experience, improving productivity, accuracy, and accessibility in academic and industrial research environments.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Google Shape;278;p18"/>
          <p:cNvSpPr/>
          <p:nvPr/>
        </p:nvSpPr>
        <p:spPr>
          <a:xfrm>
            <a:off x="1218600" y="4208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Git Hub Link</a:t>
            </a:r>
            <a:endParaRPr lang="en-US" sz="2400" b="0" u="none" strike="noStrike">
              <a:solidFill>
                <a:srgbClr val="000000"/>
              </a:solidFill>
              <a:effectLst/>
              <a:uFillTx/>
              <a:latin typeface="Arial"/>
            </a:endParaRPr>
          </a:p>
        </p:txBody>
      </p:sp>
      <p:sp>
        <p:nvSpPr>
          <p:cNvPr id="89" name="Google Shape;279;p18"/>
          <p:cNvSpPr/>
          <p:nvPr/>
        </p:nvSpPr>
        <p:spPr>
          <a:xfrm>
            <a:off x="1218600" y="1153800"/>
            <a:ext cx="9214200" cy="427680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 GitHub repository (With README button) with format.</a:t>
            </a:r>
            <a:endParaRPr lang="en-US" sz="1850" b="0" u="none" strike="noStrike">
              <a:solidFill>
                <a:srgbClr val="000000"/>
              </a:solidFill>
              <a:effectLst/>
              <a:uFillTx/>
              <a:latin typeface="Arial"/>
            </a:endParaRPr>
          </a:p>
          <a:p>
            <a:pPr>
              <a:lnSpc>
                <a:spcPct val="162000"/>
              </a:lnSpc>
              <a:tabLst>
                <a:tab pos="0" algn="l"/>
              </a:tabLst>
            </a:pPr>
            <a:r>
              <a:rPr lang="en-US" sz="1850" b="1" u="none" strike="noStrike">
                <a:solidFill>
                  <a:srgbClr val="2B3541"/>
                </a:solidFill>
                <a:effectLst/>
                <a:uFillTx/>
                <a:latin typeface="Times New Roman"/>
                <a:ea typeface="Times New Roman"/>
              </a:rPr>
              <a:t>Here is the working GitHub URL </a:t>
            </a:r>
            <a:r>
              <a:rPr lang="en-US" sz="1850" b="0" u="none" strike="noStrike">
                <a:solidFill>
                  <a:srgbClr val="2B3541"/>
                </a:solidFill>
                <a:effectLst/>
                <a:uFillTx/>
                <a:latin typeface="Times New Roman"/>
                <a:ea typeface="Times New Roman"/>
              </a:rPr>
              <a:t>– </a:t>
            </a:r>
            <a:r>
              <a:rPr lang="en-US" sz="1850" b="0" u="none" strike="noStrike">
                <a:solidFill>
                  <a:srgbClr val="2B3541"/>
                </a:solidFill>
                <a:effectLst/>
                <a:uFillTx/>
                <a:latin typeface="Times New Roman"/>
                <a:ea typeface="Times New Roman"/>
              </a:rPr>
              <a:t>https://github.com/keerthanareddyyy/IntelliResearch-AI </a:t>
            </a:r>
            <a:endParaRPr lang="en-US" sz="1850" b="0" u="none" strike="noStrike">
              <a:solidFill>
                <a:srgbClr val="000000"/>
              </a:solidFill>
              <a:effectLst/>
              <a:uFillTx/>
              <a:latin typeface="Arial"/>
            </a:endParaRPr>
          </a:p>
          <a:p>
            <a:pPr>
              <a:lnSpc>
                <a:spcPct val="162000"/>
              </a:lnSpc>
              <a:tabLst>
                <a:tab pos="0" algn="l"/>
              </a:tabLst>
            </a:pPr>
            <a:endParaRPr lang="en-US"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Google Shape;278;p18"/>
          <p:cNvSpPr/>
          <p:nvPr/>
        </p:nvSpPr>
        <p:spPr>
          <a:xfrm>
            <a:off x="1218600" y="4208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Future Scope </a:t>
            </a:r>
            <a:endParaRPr lang="en-US" sz="2400" b="0" u="none" strike="noStrike">
              <a:solidFill>
                <a:srgbClr val="000000"/>
              </a:solidFill>
              <a:effectLst/>
              <a:uFillTx/>
              <a:latin typeface="Arial"/>
            </a:endParaRPr>
          </a:p>
        </p:txBody>
      </p:sp>
      <p:sp>
        <p:nvSpPr>
          <p:cNvPr id="91" name="Google Shape;279;p18"/>
          <p:cNvSpPr/>
          <p:nvPr/>
        </p:nvSpPr>
        <p:spPr>
          <a:xfrm>
            <a:off x="1218600" y="1221840"/>
            <a:ext cx="9214200" cy="42768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400" b="0" u="none" strike="noStrike">
                <a:solidFill>
                  <a:srgbClr val="000000"/>
                </a:solidFill>
                <a:effectLst/>
                <a:uFillTx/>
                <a:latin typeface="Arial"/>
                <a:ea typeface="Arial"/>
              </a:rPr>
              <a:t>The future scope of this project is to enhance the Research Agent with more advanced AI capabilities and real-time research support features. The system can be expanded to support multi-language research assistance, voice-based interaction, and AI-powered collaboration tools for research teams and institutions.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Future versions of the platform can include integration with global research databases, journals, cloud storage systems, and academic platforms to provide more accurate and up-to-date information. The Research Agent can also be improved with advanced data visualization, predictive analytics, and intelligent recommendation systems for suggesting research topics, hypotheses, and innovation ideas.</a:t>
            </a: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The project can further evolve into a domain-specific AI assistant for healthcare research, scientific analysis, industrial R&amp;D, legal research, and educational institutions. Integration with generative AI and autonomous workflow systems can allow the agent to draft complete research papers, generate presentations, and automate documentation processes.</a:t>
            </a:r>
            <a:endParaRPr lang="en-US" sz="1400" b="0" u="none" strike="noStrike">
              <a:solidFill>
                <a:srgbClr val="000000"/>
              </a:solidFill>
              <a:effectLst/>
              <a:uFillTx/>
              <a:latin typeface="Arial"/>
            </a:endParaRPr>
          </a:p>
          <a:p>
            <a:pPr>
              <a:lnSpc>
                <a:spcPct val="100000"/>
              </a:lnSpc>
            </a:pPr>
            <a:endParaRPr lang="en-US" sz="20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Arial"/>
              </a:rPr>
              <a:t>With continuous development, the solution has the potential to become a scalable enterprise-level AI research assistant that improves productivity, decision-making, and innovation across multiple industries and academic environments.</a:t>
            </a:r>
            <a:endParaRPr lang="en-US" sz="1400" b="0" u="none" strike="noStrike">
              <a:solidFill>
                <a:srgbClr val="000000"/>
              </a:solidFill>
              <a:effectLst/>
              <a:uFillTx/>
              <a:latin typeface="Arial"/>
            </a:endParaRPr>
          </a:p>
          <a:p>
            <a:pPr>
              <a:lnSpc>
                <a:spcPct val="162000"/>
              </a:lnSpc>
            </a:pPr>
            <a:endParaRPr lang="en-US" sz="3200" b="0" u="none" strike="noStrike">
              <a:solidFill>
                <a:srgbClr val="000000"/>
              </a:solidFill>
              <a:effectLst/>
              <a:uFillTx/>
              <a:latin typeface="Arial"/>
            </a:endParaRPr>
          </a:p>
        </p:txBody>
      </p:sp>
      <p:sp>
        <p:nvSpPr>
          <p:cNvPr id="92"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endParaRPr lang="en-US" sz="185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Google Shape;310;p20"/>
          <p:cNvPicPr/>
          <p:nvPr/>
        </p:nvPicPr>
        <p:blipFill>
          <a:blip r:embed="rId1"/>
          <a:stretch/>
        </p:blipFill>
        <p:spPr>
          <a:xfrm>
            <a:off x="0" y="2190240"/>
            <a:ext cx="12191760" cy="24771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LibreOffice/26.2.3.2$Linux_X86_64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en-US</dc:language>
  <cp:lastModifiedBy/>
  <cp:lastPrinted>2026-06-12T21:02:21Z</cp:lastPrinted>
  <dcterms:modified xsi:type="dcterms:W3CDTF">2026-06-12T21:02:09Z</dcterms:modified>
  <cp:revision>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14</vt:i4>
  </property>
</Properties>
</file>